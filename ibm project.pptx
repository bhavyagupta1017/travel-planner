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6380F-9B86-4C25-879F-8D571EEA242B}" v="559" dt="2026-07-07T12:56:18.623"/>
    <p1510:client id="{C960DD95-D117-44E4-A7D1-347BC8A6514E}" v="140" dt="2026-07-06T17:30:42.739"/>
  </p1510:revLst>
</p1510:revInfo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vyaGupta1017/Travel-Plann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1066271220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Bhavya </a:t>
                      </a:r>
                      <a:r>
                        <a:rPr lang="en-US" sz="1400" u="none" strike="noStrike" cap="none"/>
                        <a:t>Gupta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</a:t>
                      </a:r>
                      <a:r>
                        <a:rPr lang="en-US" sz="1400" u="none" strike="noStrike" cap="none"/>
                        <a:t>bhavya.gupta1017@gmail.com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8810991990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US" sz="2400"/>
              <a:t>Travel &amp; Tourism</a:t>
            </a:r>
            <a:endParaRPr sz="24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958117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</a:t>
            </a:r>
            <a:r>
              <a:rPr lang="en-US" sz="2400" b="1"/>
              <a:t> </a:t>
            </a:r>
            <a:r>
              <a:rPr lang="en-US" sz="2400"/>
              <a:t>AI-Powered Travel Planner Agent using IBM Granite and watsonx.ai</a:t>
            </a:r>
            <a:endParaRPr sz="24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child with braids and a blue background&#10;&#10;AI-generated content may be incorrect.">
            <a:extLst>
              <a:ext uri="{FF2B5EF4-FFF2-40B4-BE49-F238E27FC236}">
                <a16:creationId xmlns:a16="http://schemas.microsoft.com/office/drawing/2014/main" id="{9A609F38-2E99-6282-8A00-EB4B15E30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10" y="3563255"/>
            <a:ext cx="1681322" cy="1182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813526"/>
            <a:ext cx="10607040" cy="627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n-US" sz="2000"/>
          </a:p>
          <a:p>
            <a:r>
              <a:rPr lang="en-US" sz="2000"/>
              <a:t>Planning a trip involves multiple tasks such as choosing destinations, finding transportation, selecting hotels, estimating budgets, checking weather conditions, and creating a day-wise itinerary. Users often spend hours searching across different websites, making the process time-consuming and confusing. Traditional travel planning lacks personalization based on user preferences, budget, and travel interests.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2000" dirty="0"/>
          </a:p>
          <a:p>
            <a:r>
              <a:rPr lang="en-US" sz="2000"/>
              <a:t>Develop an AI-powered Travel Planner Agent using IBM watsonx.ai and Granite Models that generates personalized travel plans based on user preferences. The system should:</a:t>
            </a:r>
          </a:p>
          <a:p>
            <a:pPr marL="285750" indent="-285750">
              <a:buChar char="•"/>
            </a:pPr>
            <a:r>
              <a:rPr lang="en-US" sz="2000"/>
              <a:t>Recommend destinations and attractions </a:t>
            </a:r>
          </a:p>
          <a:p>
            <a:pPr marL="285750" indent="-285750">
              <a:buChar char="•"/>
            </a:pPr>
            <a:r>
              <a:rPr lang="en-US" sz="2000"/>
              <a:t>Suggest transportation options </a:t>
            </a:r>
          </a:p>
          <a:p>
            <a:pPr marL="285750" indent="-285750">
              <a:buChar char="•"/>
            </a:pPr>
            <a:r>
              <a:rPr lang="en-US" sz="2000"/>
              <a:t>Recommend hotels based on budget </a:t>
            </a:r>
          </a:p>
          <a:p>
            <a:pPr marL="285750" indent="-285750">
              <a:buChar char="•"/>
            </a:pPr>
            <a:r>
              <a:rPr lang="en-US" sz="2000"/>
              <a:t>Generate day-wise travel itineraries </a:t>
            </a:r>
          </a:p>
          <a:p>
            <a:pPr marL="285750" indent="-285750">
              <a:buChar char="•"/>
            </a:pPr>
            <a:r>
              <a:rPr lang="en-US" sz="2000"/>
              <a:t>Provide budget estimation </a:t>
            </a:r>
          </a:p>
          <a:p>
            <a:pPr marL="285750" indent="-285750">
              <a:buChar char="•"/>
            </a:pPr>
            <a:r>
              <a:rPr lang="en-US" sz="2000"/>
              <a:t>Suggest local food recommendations </a:t>
            </a:r>
          </a:p>
          <a:p>
            <a:pPr marL="285750" indent="-285750">
              <a:buChar char="•"/>
            </a:pPr>
            <a:r>
              <a:rPr lang="en-US" sz="2000"/>
              <a:t>Give packing tips and safety guidelines </a:t>
            </a:r>
          </a:p>
          <a:p>
            <a:pPr marL="285750" indent="-285750">
              <a:buChar char="•"/>
            </a:pPr>
            <a:r>
              <a:rPr lang="en-US" sz="2000"/>
              <a:t>Deliver personalized travel experiences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3484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lang="en-US" sz="2400" b="1"/>
              <a:t>– Travel Planner Agent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849342"/>
            <a:ext cx="10607040" cy="680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/>
              <a:t>The proposed solution is an AI-powered Travel Planner Agent developed using </a:t>
            </a:r>
            <a:r>
              <a:rPr lang="en-US" sz="2000" b="1"/>
              <a:t>IBM watsonx.ai</a:t>
            </a:r>
            <a:r>
              <a:rPr lang="en-US" sz="2000"/>
              <a:t>, </a:t>
            </a:r>
            <a:r>
              <a:rPr lang="en-US" sz="2000" b="1"/>
              <a:t>IBM Granite 4</a:t>
            </a:r>
            <a:r>
              <a:rPr lang="en-US" sz="2000"/>
              <a:t>, </a:t>
            </a:r>
            <a:r>
              <a:rPr lang="en-US" sz="2000" b="1"/>
              <a:t>Flask</a:t>
            </a:r>
            <a:r>
              <a:rPr lang="en-US" sz="2000"/>
              <a:t>, </a:t>
            </a:r>
            <a:r>
              <a:rPr lang="en-US" sz="2000" b="1"/>
              <a:t>HTML</a:t>
            </a:r>
            <a:r>
              <a:rPr lang="en-US" sz="2000"/>
              <a:t>, </a:t>
            </a:r>
            <a:r>
              <a:rPr lang="en-US" sz="2000" b="1"/>
              <a:t>CSS</a:t>
            </a:r>
            <a:r>
              <a:rPr lang="en-US" sz="2000"/>
              <a:t>, and </a:t>
            </a:r>
            <a:r>
              <a:rPr lang="en-US" sz="2000" b="1"/>
              <a:t>JavaScript</a:t>
            </a:r>
            <a:r>
              <a:rPr lang="en-US" sz="2000"/>
              <a:t>.</a:t>
            </a:r>
            <a:endParaRPr lang="en-US" sz="2000" dirty="0"/>
          </a:p>
          <a:p>
            <a:r>
              <a:rPr lang="en-US" sz="2000"/>
              <a:t>The application collects user information such as: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/>
              <a:t>Source city and Destination 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/>
              <a:t>Budget 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 dirty="0"/>
              <a:t>Number of travel days and Number of </a:t>
            </a:r>
            <a:r>
              <a:rPr lang="en-US" sz="2000" dirty="0" err="1"/>
              <a:t>travellers</a:t>
            </a:r>
            <a:r>
              <a:rPr lang="en-US" sz="2000" dirty="0"/>
              <a:t> </a:t>
            </a:r>
          </a:p>
          <a:p>
            <a:pPr marL="285750" indent="-285750">
              <a:buChar char="•"/>
            </a:pPr>
            <a:r>
              <a:rPr lang="en-US" sz="2000"/>
              <a:t>Preferred transport 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/>
              <a:t>Hotel type and Travel interests </a:t>
            </a:r>
            <a:endParaRPr lang="en-US" sz="2000" dirty="0"/>
          </a:p>
          <a:p>
            <a:r>
              <a:rPr lang="en-US" sz="2000"/>
              <a:t>Using IBM Granite, the system analyzes the user's requirements and generates a personalized travel itinerary that includes:</a:t>
            </a:r>
            <a:endParaRPr lang="en-US" sz="2000" dirty="0"/>
          </a:p>
          <a:p>
            <a:r>
              <a:rPr lang="en-US" sz="2000"/>
              <a:t>Trip overview</a:t>
            </a:r>
          </a:p>
          <a:p>
            <a:pPr>
              <a:buChar char="•"/>
            </a:pPr>
            <a:r>
              <a:rPr lang="en-US" sz="2000" dirty="0"/>
              <a:t>Recommended transport </a:t>
            </a:r>
            <a:r>
              <a:rPr lang="en-US" sz="2000"/>
              <a:t>and Hotel</a:t>
            </a:r>
            <a:r>
              <a:rPr lang="en-US" sz="2000" dirty="0"/>
              <a:t> suggestions </a:t>
            </a:r>
            <a:endParaRPr lang="en-US" dirty="0"/>
          </a:p>
          <a:p>
            <a:pPr>
              <a:buChar char="•"/>
            </a:pPr>
            <a:r>
              <a:rPr lang="en-US" sz="2000"/>
              <a:t>Day-wise itinerary </a:t>
            </a:r>
            <a:endParaRPr lang="en-US"/>
          </a:p>
          <a:p>
            <a:pPr>
              <a:buChar char="•"/>
            </a:pPr>
            <a:r>
              <a:rPr lang="en-US" sz="2000"/>
              <a:t>Tourist attractions and Famous local foods </a:t>
            </a:r>
            <a:endParaRPr lang="en-US"/>
          </a:p>
          <a:p>
            <a:pPr>
              <a:buChar char="•"/>
            </a:pPr>
            <a:r>
              <a:rPr lang="en-US" sz="2000"/>
              <a:t>Budget breakdown </a:t>
            </a:r>
            <a:endParaRPr lang="en-US"/>
          </a:p>
          <a:p>
            <a:pPr>
              <a:buChar char="•"/>
            </a:pPr>
            <a:r>
              <a:rPr lang="en-US" sz="2000"/>
              <a:t>Packing checklist and Safety tips</a:t>
            </a:r>
            <a:endParaRPr lang="en-US"/>
          </a:p>
          <a:p>
            <a:pPr>
              <a:buChar char="•"/>
            </a:pPr>
            <a:r>
              <a:rPr lang="en-US" sz="2000" dirty="0"/>
              <a:t> </a:t>
            </a:r>
            <a:r>
              <a:rPr lang="en-US" sz="2000"/>
              <a:t>The AI agent provides intelligent recommendations within seconds, reducing manual planning effort and improving travel experiences.</a:t>
            </a:r>
            <a:endParaRPr lang="en-US" dirty="0"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endParaRPr lang="en-US" sz="20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/>
          </a:p>
        </p:txBody>
      </p:sp>
      <p:sp>
        <p:nvSpPr>
          <p:cNvPr id="102" name="Google Shape;102;p35"/>
          <p:cNvSpPr txBox="1"/>
          <p:nvPr/>
        </p:nvSpPr>
        <p:spPr>
          <a:xfrm>
            <a:off x="452701" y="2468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62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2100" b="1"/>
              <a:t>1) User Input Form:- </a:t>
            </a:r>
            <a:r>
              <a:rPr lang="en-US" sz="2100"/>
              <a:t>Collects travel details like destination, budget, duration, transport, hotel, and preferences.</a:t>
            </a:r>
            <a:endParaRPr lang="en-US"/>
          </a:p>
          <a:p>
            <a:pPr>
              <a:buSzPts val="1800"/>
            </a:pPr>
            <a:r>
              <a:rPr lang="en-US" sz="2100" b="1"/>
              <a:t>2) IBM watsonx.ai Runtime :- </a:t>
            </a:r>
            <a:r>
              <a:rPr lang="en-US" sz="2100"/>
              <a:t>Processes user requests and connects with the IBM Granite model.</a:t>
            </a:r>
          </a:p>
          <a:p>
            <a:pPr>
              <a:buSzPts val="1800"/>
            </a:pPr>
            <a:r>
              <a:rPr lang="en-US" sz="2100" b="1"/>
              <a:t>3) IBM Granite-4-H-Small :- </a:t>
            </a:r>
            <a:r>
              <a:rPr lang="en-US" sz="2100"/>
              <a:t>Generates personalized travel itineraries and recommendations.</a:t>
            </a:r>
          </a:p>
          <a:p>
            <a:pPr>
              <a:buSzPts val="1800"/>
            </a:pPr>
            <a:r>
              <a:rPr lang="en-US" sz="2100" b="1"/>
              <a:t>4) Prompt Engineering :- </a:t>
            </a:r>
            <a:r>
              <a:rPr lang="en-US" sz="2100"/>
              <a:t>Converts user input into a structured AI prompt.</a:t>
            </a:r>
          </a:p>
          <a:p>
            <a:pPr>
              <a:buSzPts val="1800"/>
            </a:pPr>
            <a:r>
              <a:rPr lang="en-US" sz="2100" b="1"/>
              <a:t>5) Flask Backend :- </a:t>
            </a:r>
            <a:r>
              <a:rPr lang="en-US" sz="2100"/>
              <a:t>Handles requests, communicates with IBM watsonx.ai, and returns AI responses.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It provides the infrastructure to build, deploy, and scale the Nutrition Agent efficiently. IBM Cloud enables a </a:t>
            </a: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reliable, secure, and scalable environment</a:t>
            </a: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deploying the Nutrition Agent.</a:t>
            </a:r>
            <a:endParaRPr sz="2100"/>
          </a:p>
          <a:p>
            <a:r>
              <a:rPr lang="en-US" sz="2100" b="1"/>
              <a:t>6) HTML, CSS &amp; JavaScript :- </a:t>
            </a:r>
            <a:r>
              <a:rPr lang="en-US" sz="2100"/>
              <a:t>Creates an interactive and responsive user interface.</a:t>
            </a:r>
          </a:p>
          <a:p>
            <a:r>
              <a:rPr lang="en-US" sz="2100" b="1"/>
              <a:t>7) JSON Response Handler :- </a:t>
            </a:r>
            <a:r>
              <a:rPr lang="en-US" sz="2100"/>
              <a:t>Transfers data between the frontend and backend efficiently.</a:t>
            </a:r>
            <a:endParaRPr lang="en-US" sz="2100" dirty="0"/>
          </a:p>
          <a:p>
            <a:pPr marL="285750" marR="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01304" y="1708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Used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503850" y="616445"/>
            <a:ext cx="8794932" cy="849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1)</a:t>
            </a:r>
            <a:r>
              <a:rPr lang="en-US" sz="2000" u="sng" dirty="0"/>
              <a:t> User Input Form</a:t>
            </a:r>
            <a:r>
              <a:rPr lang="en-US" sz="2000" dirty="0"/>
              <a:t>:- Collects travel details such as source city, destination, budget, number of days, </a:t>
            </a:r>
            <a:r>
              <a:rPr lang="en-US" sz="2000" dirty="0" err="1"/>
              <a:t>travellers</a:t>
            </a:r>
            <a:r>
              <a:rPr lang="en-US" sz="2000" dirty="0"/>
              <a:t>, transport preference, hotel type, and travel interests.</a:t>
            </a:r>
          </a:p>
          <a:p>
            <a:r>
              <a:rPr lang="en-US" sz="2000"/>
              <a:t>2) </a:t>
            </a:r>
            <a:r>
              <a:rPr lang="en-US" sz="2000" u="sng"/>
              <a:t>IBM watsonx.ai Runtime </a:t>
            </a:r>
            <a:r>
              <a:rPr lang="en-US" sz="2000"/>
              <a:t>:- Processes user requests and securely </a:t>
            </a:r>
            <a:r>
              <a:rPr lang="en-US" sz="2000" dirty="0"/>
              <a:t>communicates with the IBM Granite foundation model.</a:t>
            </a:r>
          </a:p>
          <a:p>
            <a:r>
              <a:rPr lang="en-US" sz="2000"/>
              <a:t>3)</a:t>
            </a:r>
            <a:r>
              <a:rPr lang="en-US" sz="2000" u="sng"/>
              <a:t> IBM Granite-4-H-Small Model</a:t>
            </a:r>
            <a:r>
              <a:rPr lang="en-US" sz="2000"/>
              <a:t> :- Generates personalized travel </a:t>
            </a:r>
            <a:r>
              <a:rPr lang="en-US" sz="2000" dirty="0"/>
              <a:t>itineraries, transport suggestions, hotel recommendations, budget estimates, and travel advice using natural language reasoning.</a:t>
            </a:r>
          </a:p>
          <a:p>
            <a:r>
              <a:rPr lang="en-US" sz="2000"/>
              <a:t>4) </a:t>
            </a:r>
            <a:r>
              <a:rPr lang="en-US" sz="2000" u="sng"/>
              <a:t>Prompt Engineering</a:t>
            </a:r>
            <a:r>
              <a:rPr lang="en-US" sz="2000"/>
              <a:t> :- Converts user travel preferences into a structured prompt that guides the AI model to generate accurate and personalized travel plans.</a:t>
            </a:r>
            <a:endParaRPr lang="en-US" sz="2000" dirty="0"/>
          </a:p>
          <a:p>
            <a:r>
              <a:rPr lang="en-US" sz="2000"/>
              <a:t>5) </a:t>
            </a:r>
            <a:r>
              <a:rPr lang="en-US" sz="2000" u="sng"/>
              <a:t>Flask Backend</a:t>
            </a:r>
            <a:r>
              <a:rPr lang="en-US" sz="2000"/>
              <a:t> :- Handles user requests, communicates with IBM watsonx.ai Runtime, processes AI responses, and returns the generated itinerary to the frontend.</a:t>
            </a:r>
            <a:endParaRPr lang="en-US" sz="2000" dirty="0"/>
          </a:p>
          <a:p>
            <a:r>
              <a:rPr lang="en-US" sz="2000"/>
              <a:t>6)</a:t>
            </a:r>
            <a:r>
              <a:rPr lang="en-US" sz="2000" u="sng"/>
              <a:t> HTML, CSS &amp; JavaScript Frontend </a:t>
            </a:r>
            <a:r>
              <a:rPr lang="en-US" sz="2000"/>
              <a:t>:- Provides an interactive and user-friendly interface where users enter travel details and view the AI-generated itinerary.</a:t>
            </a:r>
            <a:endParaRPr lang="en-US" sz="2000" dirty="0"/>
          </a:p>
          <a:p>
            <a:r>
              <a:rPr lang="en-US" sz="2000"/>
              <a:t>7) </a:t>
            </a:r>
            <a:r>
              <a:rPr lang="en-US" sz="2000" u="sng"/>
              <a:t>JSON Response Handler </a:t>
            </a:r>
            <a:r>
              <a:rPr lang="en-US" sz="2000"/>
              <a:t>:- Transfers travel data between the frontend </a:t>
            </a:r>
            <a:r>
              <a:rPr lang="en-US" sz="2000" dirty="0"/>
              <a:t>and backend in JSON format, ensuring smooth communication and fast response generation.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24FE1-AAB2-20F8-C324-7B10EB886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894"/>
            <a:ext cx="12192000" cy="6272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diagram of a travel plan&#10;&#10;AI-generated content may be incorrect.">
            <a:extLst>
              <a:ext uri="{FF2B5EF4-FFF2-40B4-BE49-F238E27FC236}">
                <a16:creationId xmlns:a16="http://schemas.microsoft.com/office/drawing/2014/main" id="{FCAACB77-AB2D-1E15-F1BC-A99EB40A5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09" y="756104"/>
            <a:ext cx="11519353" cy="5766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7070" y="1167493"/>
            <a:ext cx="3080657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163431" y="167350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164592" y="753836"/>
            <a:ext cx="8270240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/>
              <a:t>Agentic AI</a:t>
            </a:r>
            <a:r>
              <a:rPr lang="en-US" sz="2000"/>
              <a:t> enables the </a:t>
            </a:r>
            <a:r>
              <a:rPr lang="en-US" sz="2000" b="1"/>
              <a:t>Travel Planner Agent</a:t>
            </a:r>
            <a:r>
              <a:rPr lang="en-US" sz="2000"/>
              <a:t> to function as an intelligent, autonomous travel assistant rather than a simple chatbot. Using </a:t>
            </a:r>
            <a:r>
              <a:rPr lang="en-US" sz="2000" b="1"/>
              <a:t>IBM watsonx.ai</a:t>
            </a:r>
            <a:r>
              <a:rPr lang="en-US" sz="2000"/>
              <a:t> and </a:t>
            </a:r>
            <a:r>
              <a:rPr lang="en-US" sz="2000" b="1"/>
              <a:t>IBM Granite 4</a:t>
            </a:r>
            <a:r>
              <a:rPr lang="en-US" sz="2000" dirty="0"/>
              <a:t> </a:t>
            </a:r>
            <a:r>
              <a:rPr lang="en-US" sz="2000"/>
              <a:t>models, it analyzes user preferences and generates personalized travel recommendations.</a:t>
            </a:r>
            <a:endParaRPr lang="en-US" sz="2000" dirty="0"/>
          </a:p>
          <a:p>
            <a:r>
              <a:rPr lang="en-US" sz="2000"/>
              <a:t>The AI agent understands important travel details such as </a:t>
            </a:r>
            <a:r>
              <a:rPr lang="en-US" sz="2000" b="1"/>
              <a:t>source city, destination, budget, travel duration, transportation preference, hotel type, and travel interests</a:t>
            </a:r>
            <a:r>
              <a:rPr lang="en-US" sz="2000"/>
              <a:t> to create customized travel itineraries. It intelligently recommends the best transportation options, suitable accommodations, famous tourist attractions, local cuisine, and estimated travel expenses.</a:t>
            </a:r>
            <a:endParaRPr lang="en-US" sz="2000" dirty="0"/>
          </a:p>
          <a:p>
            <a:r>
              <a:rPr lang="en-US" sz="2000"/>
              <a:t>Agentic AI brings </a:t>
            </a:r>
            <a:r>
              <a:rPr lang="en-US" sz="2000" b="1"/>
              <a:t>context awareness</a:t>
            </a:r>
            <a:r>
              <a:rPr lang="en-US" sz="2000"/>
              <a:t>, enabling the system to generate recommendations that match each user's specific requirements and travel goals. It also provides </a:t>
            </a:r>
            <a:r>
              <a:rPr lang="en-US" sz="2000" b="1"/>
              <a:t>dynamic itinerary planning</a:t>
            </a:r>
            <a:r>
              <a:rPr lang="en-US" sz="2000"/>
              <a:t>, organizing activities into a structured day-wise schedule for a smooth travel experience.</a:t>
            </a:r>
            <a:endParaRPr lang="en-US" sz="2000" dirty="0"/>
          </a:p>
          <a:p>
            <a:r>
              <a:rPr lang="en-US" sz="2000"/>
              <a:t>Overall, </a:t>
            </a:r>
            <a:r>
              <a:rPr lang="en-US" sz="2000" b="1"/>
              <a:t>Agentic AI</a:t>
            </a:r>
            <a:r>
              <a:rPr lang="en-US" sz="2000"/>
              <a:t> makes the Travel Planner Agent </a:t>
            </a:r>
            <a:r>
              <a:rPr lang="en-US" sz="2000" b="1"/>
              <a:t>proactive, personalized, and goal-driven</a:t>
            </a:r>
            <a:r>
              <a:rPr lang="en-US" sz="2000"/>
              <a:t>, acting as a </a:t>
            </a:r>
            <a:r>
              <a:rPr lang="en-US" sz="2000" b="1"/>
              <a:t>smart digital travel assistant</a:t>
            </a:r>
            <a:r>
              <a:rPr lang="en-US" sz="2000" dirty="0"/>
              <a:t> </a:t>
            </a:r>
            <a:r>
              <a:rPr lang="en-US" sz="2000"/>
              <a:t>that simplifies travel planning and provides an enjoyable, hassle-free experience.</a:t>
            </a:r>
          </a:p>
          <a:p>
            <a:endParaRPr lang="en-US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11301984" cy="44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100"/>
              <a:t>The proposed </a:t>
            </a:r>
            <a:r>
              <a:rPr lang="en-US" sz="2100" b="1"/>
              <a:t>Travel Planner Agent</a:t>
            </a:r>
            <a:r>
              <a:rPr lang="en-US" sz="2100"/>
              <a:t> combines </a:t>
            </a:r>
            <a:r>
              <a:rPr lang="en-US" sz="2100" b="1"/>
              <a:t>Agentic AI</a:t>
            </a:r>
            <a:r>
              <a:rPr lang="en-US" sz="2100"/>
              <a:t>, </a:t>
            </a:r>
            <a:r>
              <a:rPr lang="en-US" sz="2100" b="1"/>
              <a:t>IBM watsonx.ai</a:t>
            </a:r>
            <a:r>
              <a:rPr lang="en-US" sz="2100"/>
              <a:t>, and </a:t>
            </a:r>
            <a:r>
              <a:rPr lang="en-US" sz="2100" b="1"/>
              <a:t>IBM Granite 4</a:t>
            </a:r>
            <a:r>
              <a:rPr lang="en-US" sz="2100" dirty="0"/>
              <a:t> </a:t>
            </a:r>
            <a:r>
              <a:rPr lang="en-US" sz="2100"/>
              <a:t>to deliver intelligent and personalized travel planning.</a:t>
            </a:r>
            <a:endParaRPr lang="en-US" sz="2100" dirty="0"/>
          </a:p>
          <a:p>
            <a:pPr marL="285750" indent="-285750">
              <a:buChar char="•"/>
            </a:pPr>
            <a:r>
              <a:rPr lang="en-US" sz="2100" b="1"/>
              <a:t>AI-Powered Personalization</a:t>
            </a:r>
            <a:r>
              <a:rPr lang="en-US" sz="2100"/>
              <a:t> – Generates customized travel itineraries based on user preferences, budget, destination, and travel duration. </a:t>
            </a:r>
            <a:endParaRPr lang="en-US" sz="2100" dirty="0"/>
          </a:p>
          <a:p>
            <a:pPr marL="285750" indent="-285750">
              <a:buChar char="•"/>
            </a:pPr>
            <a:r>
              <a:rPr lang="en-US" sz="2100" b="1"/>
              <a:t>Context-Aware Recommendations</a:t>
            </a:r>
            <a:r>
              <a:rPr lang="en-US" sz="2100"/>
              <a:t> – Suggests suitable hotels, transport options, tourist attractions, and local experiences. </a:t>
            </a:r>
            <a:endParaRPr lang="en-US" sz="2100" dirty="0"/>
          </a:p>
          <a:p>
            <a:pPr marL="285750" indent="-285750">
              <a:buChar char="•"/>
            </a:pPr>
            <a:r>
              <a:rPr lang="en-US" sz="2100" b="1"/>
              <a:t>Smart Itinerary Generation</a:t>
            </a:r>
            <a:r>
              <a:rPr lang="en-US" sz="2100"/>
              <a:t> – Creates detailed day-wise travel plans with budget estimation and travel tips. </a:t>
            </a:r>
            <a:endParaRPr lang="en-US" sz="2100" dirty="0"/>
          </a:p>
          <a:p>
            <a:pPr marL="285750" indent="-285750">
              <a:buChar char="•"/>
            </a:pPr>
            <a:r>
              <a:rPr lang="en-US" sz="2100" b="1"/>
              <a:t>IBM Granite Integration</a:t>
            </a:r>
            <a:r>
              <a:rPr lang="en-US" sz="2100"/>
              <a:t> – Uses IBM Granite foundation models to provide accurate, natural, and human-like travel recommendations. </a:t>
            </a:r>
            <a:endParaRPr lang="en-US" sz="2100" dirty="0"/>
          </a:p>
          <a:p>
            <a:pPr marL="285750" indent="-285750">
              <a:buChar char="•"/>
            </a:pPr>
            <a:r>
              <a:rPr lang="en-US" sz="2100" b="1"/>
              <a:t>Scalable &amp; User-Friendly Solution</a:t>
            </a:r>
            <a:r>
              <a:rPr lang="en-US" sz="2100"/>
              <a:t> – Built using Flask and IBM watsonx.ai, making the application lightweight, interactive, and easy to use.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10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21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100" dirty="0">
                <a:solidFill>
                  <a:srgbClr val="2B3541"/>
                </a:solidFill>
                <a:ea typeface="Times New Roman"/>
                <a:sym typeface="Times New Roman"/>
                <a:hlinkClick r:id="rId3"/>
              </a:rPr>
              <a:t>https://github.com/BhavyaGupta1017/Travel-Planner</a:t>
            </a:r>
            <a:r>
              <a:rPr lang="en-US" sz="2100" dirty="0">
                <a:solidFill>
                  <a:srgbClr val="2B3541"/>
                </a:solidFill>
                <a:ea typeface="Times New Roman"/>
                <a:sym typeface="Times New Roman"/>
              </a:rPr>
              <a:t> </a:t>
            </a:r>
            <a:endParaRPr lang="en-US" sz="2100" dirty="0">
              <a:solidFill>
                <a:srgbClr val="2B3541"/>
              </a:solidFill>
            </a:endParaRPr>
          </a:p>
          <a:p>
            <a:pPr>
              <a:lnSpc>
                <a:spcPct val="162162"/>
              </a:lnSpc>
              <a:buSzPts val="1850"/>
            </a:pPr>
            <a:r>
              <a:rPr lang="en-US" sz="2100" dirty="0">
                <a:solidFill>
                  <a:srgbClr val="2B3541"/>
                </a:solidFill>
              </a:rPr>
              <a:t>This </a:t>
            </a:r>
            <a:r>
              <a:rPr lang="en-US" sz="2100" dirty="0" err="1">
                <a:solidFill>
                  <a:srgbClr val="2B3541"/>
                </a:solidFill>
              </a:rPr>
              <a:t>github</a:t>
            </a:r>
            <a:r>
              <a:rPr lang="en-US" sz="2100" dirty="0">
                <a:solidFill>
                  <a:srgbClr val="2B3541"/>
                </a:solidFill>
              </a:rPr>
              <a:t> repository contains :</a:t>
            </a:r>
          </a:p>
          <a:p>
            <a:pPr marL="342900" indent="-342900">
              <a:lnSpc>
                <a:spcPct val="162162"/>
              </a:lnSpc>
              <a:buSzPts val="1850"/>
              <a:buChar char="•"/>
            </a:pPr>
            <a:r>
              <a:rPr lang="en-US" sz="2100">
                <a:solidFill>
                  <a:srgbClr val="2B3541"/>
                </a:solidFill>
                <a:ea typeface="Times New Roman"/>
              </a:rPr>
              <a:t>Problem statement pdf</a:t>
            </a:r>
            <a:endParaRPr lang="en-US" sz="2100" b="0" i="0" u="none" strike="noStrike" cap="none" dirty="0">
              <a:solidFill>
                <a:srgbClr val="2B3541"/>
              </a:solidFill>
              <a:ea typeface="Times New Roman"/>
            </a:endParaRPr>
          </a:p>
          <a:p>
            <a:pPr marL="342900" indent="-342900">
              <a:lnSpc>
                <a:spcPct val="162162"/>
              </a:lnSpc>
              <a:buSzPts val="1850"/>
              <a:buChar char="•"/>
            </a:pPr>
            <a:r>
              <a:rPr lang="en-US" sz="2100">
                <a:solidFill>
                  <a:srgbClr val="2B3541"/>
                </a:solidFill>
                <a:ea typeface="Times New Roman"/>
              </a:rPr>
              <a:t>Presentation</a:t>
            </a:r>
            <a:endParaRPr lang="en-US" sz="2100" dirty="0">
              <a:solidFill>
                <a:srgbClr val="2B3541"/>
              </a:solidFill>
              <a:ea typeface="Times New Roman"/>
            </a:endParaRPr>
          </a:p>
          <a:p>
            <a:pPr marL="342900" indent="-342900">
              <a:lnSpc>
                <a:spcPct val="162162"/>
              </a:lnSpc>
              <a:buSzPts val="1850"/>
              <a:buChar char="•"/>
            </a:pPr>
            <a:r>
              <a:rPr lang="en-US" sz="2100" dirty="0" err="1">
                <a:solidFill>
                  <a:srgbClr val="2B3541"/>
                </a:solidFill>
                <a:ea typeface="Times New Roman"/>
              </a:rPr>
              <a:t>App.json</a:t>
            </a:r>
            <a:r>
              <a:rPr lang="en-US" sz="2100" dirty="0">
                <a:solidFill>
                  <a:srgbClr val="2B3541"/>
                </a:solidFill>
                <a:ea typeface="Times New Roman"/>
              </a:rPr>
              <a:t> file</a:t>
            </a:r>
          </a:p>
          <a:p>
            <a:pPr marL="342900" indent="-342900">
              <a:lnSpc>
                <a:spcPct val="162162"/>
              </a:lnSpc>
              <a:buSzPts val="1850"/>
              <a:buChar char="•"/>
            </a:pPr>
            <a:r>
              <a:rPr lang="en-US" sz="2100">
                <a:solidFill>
                  <a:srgbClr val="2B3541"/>
                </a:solidFill>
                <a:ea typeface="Times New Roman"/>
              </a:rPr>
              <a:t>All the screenshots of the project </a:t>
            </a:r>
            <a:endParaRPr lang="en-US" sz="2100" dirty="0">
              <a:solidFill>
                <a:srgbClr val="2B3541"/>
              </a:solidFill>
              <a:ea typeface="Times New Roman"/>
            </a:endParaRPr>
          </a:p>
          <a:p>
            <a:pPr marL="342900" indent="-342900">
              <a:lnSpc>
                <a:spcPct val="162162"/>
              </a:lnSpc>
              <a:buSzPts val="1850"/>
              <a:buChar char="•"/>
            </a:pPr>
            <a:r>
              <a:rPr lang="en-US" sz="2100">
                <a:solidFill>
                  <a:srgbClr val="2B3541"/>
                </a:solidFill>
                <a:ea typeface="Times New Roman"/>
              </a:rPr>
              <a:t>The static and template files required</a:t>
            </a:r>
            <a:endParaRPr lang="en-US" sz="2100" dirty="0">
              <a:solidFill>
                <a:srgbClr val="2B3541"/>
              </a:solidFill>
              <a:ea typeface="Times New Roman"/>
            </a:endParaRPr>
          </a:p>
          <a:p>
            <a:pPr>
              <a:lnSpc>
                <a:spcPct val="162162"/>
              </a:lnSpc>
            </a:pPr>
            <a:endParaRPr lang="en-US" sz="1850" dirty="0">
              <a:solidFill>
                <a:srgbClr val="2B3541"/>
              </a:solidFill>
              <a:ea typeface="Times New Roman"/>
              <a:cs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405924" y="1141888"/>
            <a:ext cx="10709551" cy="485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2000" dirty="0"/>
          </a:p>
          <a:p>
            <a:r>
              <a:rPr lang="en-US" sz="2000" b="1" dirty="0"/>
              <a:t>1. Integration with Real-Time Travel Services –</a:t>
            </a:r>
            <a:r>
              <a:rPr lang="en-US" sz="2000" dirty="0">
                <a:solidFill>
                  <a:srgbClr val="2B3541"/>
                </a:solidFill>
              </a:rPr>
              <a:t>The Travel Planner Agent can be </a:t>
            </a:r>
            <a:r>
              <a:rPr lang="en-US" sz="2000">
                <a:solidFill>
                  <a:srgbClr val="2B3541"/>
                </a:solidFill>
              </a:rPr>
              <a:t>integrated with </a:t>
            </a:r>
            <a:r>
              <a:rPr lang="en-US" sz="2000" b="1" dirty="0">
                <a:solidFill>
                  <a:srgbClr val="2B3541"/>
                </a:solidFill>
              </a:rPr>
              <a:t>live weather, flight, hotel, and transportation APIs</a:t>
            </a:r>
            <a:r>
              <a:rPr lang="en-US" sz="2000" dirty="0">
                <a:solidFill>
                  <a:srgbClr val="2B3541"/>
                </a:solidFill>
              </a:rPr>
              <a:t> to provide real-time travel information. This will enable users to receive up-to-date recommendations, price comparisons, weather forecasts, and travel alerts, making trip planning more accurate and reliable.</a:t>
            </a:r>
            <a:endParaRPr lang="en-US" sz="2000" dirty="0"/>
          </a:p>
          <a:p>
            <a:r>
              <a:rPr lang="en-US" sz="2000" b="1"/>
              <a:t>2. AI-Powered Voice Assistant &amp; Multilingual Support –</a:t>
            </a:r>
            <a:r>
              <a:rPr lang="en-US" sz="2000">
                <a:solidFill>
                  <a:srgbClr val="2B3541"/>
                </a:solidFill>
              </a:rPr>
              <a:t>The system can be enhanced with a </a:t>
            </a:r>
            <a:r>
              <a:rPr lang="en-US" sz="2000" b="1">
                <a:solidFill>
                  <a:srgbClr val="2B3541"/>
                </a:solidFill>
              </a:rPr>
              <a:t>voice-enabled assistant</a:t>
            </a:r>
            <a:r>
              <a:rPr lang="en-US" sz="2000">
                <a:solidFill>
                  <a:srgbClr val="2B3541"/>
                </a:solidFill>
              </a:rPr>
              <a:t> and support for multiple languages, allowing users to interact naturally in their preferred language. This will improve accessibility, provide a better user experience, and make the Travel Planner Agent suitable for a wider range of travelers.</a:t>
            </a:r>
            <a:endParaRPr lang="en-US" sz="2000" dirty="0"/>
          </a:p>
          <a:p>
            <a:r>
              <a:rPr lang="en-US" sz="2000" b="1"/>
              <a:t>3. Smart Booking &amp; Interactive Maps – </a:t>
            </a:r>
            <a:r>
              <a:rPr lang="en-US" sz="2000">
                <a:solidFill>
                  <a:srgbClr val="2B3541"/>
                </a:solidFill>
              </a:rPr>
              <a:t>Future versions can integrate </a:t>
            </a:r>
            <a:r>
              <a:rPr lang="en-US" sz="2000" b="1">
                <a:solidFill>
                  <a:srgbClr val="2B3541"/>
                </a:solidFill>
              </a:rPr>
              <a:t>Google Maps</a:t>
            </a:r>
            <a:r>
              <a:rPr lang="en-US" sz="2000">
                <a:solidFill>
                  <a:srgbClr val="2B3541"/>
                </a:solidFill>
              </a:rPr>
              <a:t> and </a:t>
            </a:r>
            <a:r>
              <a:rPr lang="en-US" sz="2000" b="1">
                <a:solidFill>
                  <a:srgbClr val="2B3541"/>
                </a:solidFill>
              </a:rPr>
              <a:t>online booking services</a:t>
            </a:r>
            <a:r>
              <a:rPr lang="en-US" sz="2000">
                <a:solidFill>
                  <a:srgbClr val="2B3541"/>
                </a:solidFill>
              </a:rPr>
              <a:t> to help users navigate destinations, explore nearby attractions, and book flights or hotels directly from the application, creating a complete end-to-end travel planning solution.</a:t>
            </a:r>
            <a:endParaRPr lang="en-US" sz="2000" dirty="0"/>
          </a:p>
          <a:p>
            <a:pPr marL="0" marR="0" lvl="0" indent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1" name="Rectangle 20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Google Shape;182;p43"/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Certificates Earned: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0" i="0" u="none" strike="noStrike" kern="1200" cap="none">
              <a:solidFill>
                <a:schemeClr val="tx1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blue and white card with a blue border&#10;&#10;AI-generated content may be incorrect.">
            <a:extLst>
              <a:ext uri="{FF2B5EF4-FFF2-40B4-BE49-F238E27FC236}">
                <a16:creationId xmlns:a16="http://schemas.microsoft.com/office/drawing/2014/main" id="{4C2FE572-7F11-F3E7-0479-B479CC8DF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58" y="2204915"/>
            <a:ext cx="5431536" cy="3978599"/>
          </a:xfrm>
          <a:prstGeom prst="rect">
            <a:avLst/>
          </a:prstGeom>
        </p:spPr>
      </p:pic>
      <p:pic>
        <p:nvPicPr>
          <p:cNvPr id="3" name="Picture 2" descr="A blue and white card with a black text&#10;&#10;AI-generated content may be incorrect.">
            <a:extLst>
              <a:ext uri="{FF2B5EF4-FFF2-40B4-BE49-F238E27FC236}">
                <a16:creationId xmlns:a16="http://schemas.microsoft.com/office/drawing/2014/main" id="{9C0E77ED-B647-9927-F5DF-F0648B6F3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408" y="2213480"/>
            <a:ext cx="5431536" cy="39514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certificate with a yellow face and black text&#10;&#10;AI-generated content may be incorrect.">
            <a:extLst>
              <a:ext uri="{FF2B5EF4-FFF2-40B4-BE49-F238E27FC236}">
                <a16:creationId xmlns:a16="http://schemas.microsoft.com/office/drawing/2014/main" id="{5D00370B-5182-9496-F7FC-B5D42392A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56" y="615042"/>
            <a:ext cx="9934575" cy="6019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revision>183</cp:revision>
  <dcterms:created xsi:type="dcterms:W3CDTF">2025-07-08T05:06:56Z</dcterms:created>
  <dcterms:modified xsi:type="dcterms:W3CDTF">2026-07-07T12:56:49Z</dcterms:modified>
</cp:coreProperties>
</file>